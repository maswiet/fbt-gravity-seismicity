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Frame: Indonesia's frontier basins are under-explored because data is scarce. Satellite gravity is the obvious cheap tool — but I'll show it is not enough on its own here, and that seismology is the bridge that unlocks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credibility point: the same framework recovers a synthetic basin near-perfectly AND scores CRUST1.0 at 0.75. So the r=-0.15 on real data is a physical result, not a coding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message for Pertamina Upstream: don't expect gravity alone to deliver basin geometry in Indonesia; pair it with seismological depth control and it becomes powerful.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325880"/>
            <a:ext cx="256032" cy="25603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DATA SCARCITY TO DISCOVERY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Seismology as the bridge to sediment-basin models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7947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satellite gravity alone falls short in Indonesia — and how receiver functions make gravity + seismology powerful. A Central Java (MERAMEX) case study.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212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&amp; Discussion Forum — Unlocking Under-Explored Basin  ·  FMIPA Universitas Gadjah Mada  ·  22–23 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Indonesia's under-explored basins — the frontier prize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2130552"/>
            <a:ext cx="310896" cy="31089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209397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basins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24328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ESDM 2022 map inventories 128 sedimentary basins; many frontier basins remain undrilled or with only sparse data.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72584" y="2130552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48072" y="209397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Sediment = the container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2624328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Hydrocarbons need a thick sediment fill and depocentres. Mapping basin geometry is step one of exploration.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10144" y="1874520"/>
            <a:ext cx="3337560" cy="2148840"/>
          </a:xfrm>
          <a:prstGeom prst="roundRect">
            <a:avLst>
              <a:gd name="adj" fmla="val 340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66176" y="2130552"/>
            <a:ext cx="310896" cy="310896"/>
          </a:xfrm>
          <a:prstGeom prst="ellipse">
            <a:avLst/>
          </a:prstGeom>
          <a:solidFill>
            <a:srgbClr val="C98A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41664" y="209397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scarce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84464" y="2624328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Seismic reflection and wells are expensive and thin on the ground in frontier acreage — we need cheaper reconnaissance.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343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i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screen basin geometry — depth-to-basement, sediment thickness — from public, low-cost data before committing to seismic?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257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candidates: satellite gravity (dense, cheap, global) and passive seismology (physical, absolute, station-based).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1  ·  GRAVITY ALONE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satellite gravity map basins by itself?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2176272"/>
            <a:ext cx="310896" cy="31089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21396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promise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7004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Sedimentary basins are low-density fill → they should read as Bouguer/isostatic lows. Satellite gravity covers all of Indonesia, cheaply and uniformly.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8992" y="4142232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554480" y="41056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63600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3-D gravity inversion for sediment thickness (Parker series, cited densities, compaction), benchmarked against published basin depths.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09360" y="1920240"/>
            <a:ext cx="5029200" cy="3886200"/>
          </a:xfrm>
          <a:prstGeom prst="roundRect">
            <a:avLst>
              <a:gd name="adj" fmla="val 2353"/>
            </a:avLst>
          </a:prstGeom>
          <a:solidFill>
            <a:srgbClr val="1023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0" y="21488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properly validated pipeline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260604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→ cited physical parameters → conceptual model → 3-D inversion.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Parker forward series verified against the exact forward to 0.0016 mGal.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7-km basin recovered at RMS 79 m, r = 0.9991 — the test even caught a sign error.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RESULT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 works — but gravity alone fails on real basins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3392424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75688"/>
            <a:ext cx="3209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0.9991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843784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recovery (framework works)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98264" y="1874520"/>
            <a:ext cx="3392424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9704" y="2075688"/>
            <a:ext cx="3209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0.75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07992" y="2843784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CRUST1.0 control (same tests)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73568" y="1874520"/>
            <a:ext cx="3392424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65008" y="2075688"/>
            <a:ext cx="3209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05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−0.15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083296" y="2843784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inversion vs published thickness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identical tests, polygons and metrics, CRUST1.0 scores r = 0.75 — so the validation framework is healthy. The near-zero real-data result is therefore real, not a bug.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617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i="1" dirty="0">
                <a:solidFill>
                  <a:srgbClr val="B0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gravity, inverted on its own, does NOT recover Indonesian basin sediment thickness. Why?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 ·  THE PHYSICS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Indonesia the gravity signal is not the sediment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5120640" cy="822960"/>
          </a:xfrm>
          <a:prstGeom prst="rect">
            <a:avLst/>
          </a:prstGeom>
          <a:solidFill>
            <a:srgbClr val="C9E5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59152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Sediment fill 10–11 km  (− density → gravity LOW)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2926080"/>
            <a:ext cx="5120640" cy="1371600"/>
          </a:xfrm>
          <a:prstGeom prst="rect">
            <a:avLst/>
          </a:prstGeom>
          <a:solidFill>
            <a:srgbClr val="AFC7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74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4297680"/>
            <a:ext cx="5120640" cy="914400"/>
          </a:xfrm>
          <a:prstGeom prst="rect">
            <a:avLst/>
          </a:prstGeom>
          <a:solidFill>
            <a:srgbClr val="7E97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34840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Mantle — Moho rises under the rift  (+ density → gravity HIGH)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4297680"/>
            <a:ext cx="5120640" cy="-502920"/>
          </a:xfrm>
          <a:prstGeom prst="line">
            <a:avLst/>
          </a:prstGeom>
          <a:noFill/>
          <a:ln w="31750">
            <a:solidFill>
              <a:srgbClr val="B0512F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63093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Kutai paradox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46888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Kutai holds 10–11 km of sediment — yet its isostatic anomaly is +2.6 mGal (positive).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Rifting raises the Moho; the mantle's positive pull cancels the sediment low.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Compaction closes the density contrast — only −115 kg/m³ left at 8 km depth.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Indonesian residual field is dominated by plate-boundary &amp; isostatic processes, not sediment.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3035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basin low and a rift-raised Moho high partly cancel — gravity is non-unique.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371600"/>
            <a:ext cx="237744" cy="23774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88720" y="133502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Gravity alone is non-unique. It needs an independent depth anchor.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3832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more caveat: the ESDM 2022 basin outlines already list Badan Geologi gravity as a data source — so gravity outlines are a PRIOR, not an independent check on a gravity inversion.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805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anchor is seismology — the P-to-S conversions recorded at a single station read the layering directly beneath it.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SEISMOLOGY 101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teleseismic P wave converts to S at every interface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5852160" cy="822960"/>
          </a:xfrm>
          <a:prstGeom prst="rect">
            <a:avLst/>
          </a:prstGeom>
          <a:solidFill>
            <a:srgbClr val="C9E5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0848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Sediment (low Vs)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834640"/>
            <a:ext cx="5852160" cy="1371600"/>
          </a:xfrm>
          <a:prstGeom prst="rect">
            <a:avLst/>
          </a:prstGeom>
          <a:solidFill>
            <a:srgbClr val="AFC7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90779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Crust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4206240"/>
            <a:ext cx="5852160" cy="1097280"/>
          </a:xfrm>
          <a:prstGeom prst="rect">
            <a:avLst/>
          </a:prstGeom>
          <a:solidFill>
            <a:srgbClr val="7E97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427939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371600" y="5303520"/>
            <a:ext cx="2011680" cy="-3291840"/>
          </a:xfrm>
          <a:prstGeom prst="line">
            <a:avLst/>
          </a:prstGeom>
          <a:noFill/>
          <a:ln w="31750">
            <a:solidFill>
              <a:srgbClr val="10233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383280" y="4206240"/>
            <a:ext cx="822960" cy="-822960"/>
          </a:xfrm>
          <a:prstGeom prst="line">
            <a:avLst/>
          </a:prstGeom>
          <a:noFill/>
          <a:ln w="25400">
            <a:solidFill>
              <a:srgbClr val="02C39A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1143000" y="4846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023360" y="1719072"/>
            <a:ext cx="457200" cy="292608"/>
          </a:xfrm>
          <a:prstGeom prst="triangle">
            <a:avLst/>
          </a:prstGeom>
          <a:solidFill>
            <a:srgbClr val="B0303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434840" y="1700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2011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2423160"/>
            <a:ext cx="4114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distant M5+ earthquake sends a near-vertical P wave up to the station.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each velocity jump, part of P converts to a slower S wave (a “Ps” phase).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delay after P scales with interface depth.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≈ source; radial carries the conversions.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54406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interface → later Ps → structure straight from arrival time.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Receiver function = radial deconvolved by vertical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RF(t)  =  Radial(t)  ÷  Vertical(t)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time-domain deconvolution (Ligorria &amp; Ammon 1999 = CPS saciterd)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5852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the earthquake source &amp; instrument — leaves the site's impulse response.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spike at t = 0 (direct P), then positive pulses at each Ps conversion.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many events per station beats down noise.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width sets resolution — higher to resolve thin sediment.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266051" y="1728216"/>
            <a:ext cx="4030218" cy="4590288"/>
          </a:xfrm>
          <a:prstGeom prst="roundRect">
            <a:avLst>
              <a:gd name="adj" fmla="val 1361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0" descr="/Users/maswiet/Work/Students/Pak_Zuhdi/figures/rf_java/rf_demo_BI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0915" y="1783080"/>
            <a:ext cx="3920490" cy="4480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040880" y="6263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BI1: individual RFs (red) and their stack (blue).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teleseism to a receiver function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395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1546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events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67588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M≥5, 15–90°, good SNR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89504" y="3383280"/>
            <a:ext cx="155448" cy="0"/>
          </a:xfrm>
          <a:prstGeom prst="line">
            <a:avLst/>
          </a:prstGeom>
          <a:noFill/>
          <a:ln w="19050">
            <a:solidFill>
              <a:srgbClr val="5A6B7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054096" y="219456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36976" y="2395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236976" y="31546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236976" y="367588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N,E → Radial, Transverse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120640" y="3383280"/>
            <a:ext cx="155448" cy="0"/>
          </a:xfrm>
          <a:prstGeom prst="line">
            <a:avLst/>
          </a:prstGeom>
          <a:noFill/>
          <a:ln w="19050">
            <a:solidFill>
              <a:srgbClr val="5A6B7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285232" y="219456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065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68112" y="2395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5468112" y="31546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Deconvolve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68112" y="367588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÷ Vertical (iterative)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1776" y="3383280"/>
            <a:ext cx="155448" cy="0"/>
          </a:xfrm>
          <a:prstGeom prst="line">
            <a:avLst/>
          </a:prstGeom>
          <a:noFill/>
          <a:ln w="19050">
            <a:solidFill>
              <a:srgbClr val="5A6B7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516368" y="219456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99248" y="2395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7699248" y="31546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699248" y="367588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clean, causal RFs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82912" y="3383280"/>
            <a:ext cx="155448" cy="0"/>
          </a:xfrm>
          <a:prstGeom prst="line">
            <a:avLst/>
          </a:prstGeom>
          <a:noFill/>
          <a:ln w="19050">
            <a:solidFill>
              <a:srgbClr val="5A6B7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747504" y="219456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930384" y="2395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800" dirty="0"/>
          </a:p>
        </p:txBody>
      </p:sp>
      <p:sp>
        <p:nvSpPr>
          <p:cNvPr id="27" name="Text 25"/>
          <p:cNvSpPr txBox="1"/>
          <p:nvPr/>
        </p:nvSpPr>
        <p:spPr>
          <a:xfrm>
            <a:off x="9930384" y="31546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930384" y="367588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→ stable RF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MERAMEX 2004: 143 stations · 7 teleseisms (back-azimuth 86–269°) · 106 stations with usable receiver functions.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MODELLING  ·  PEMODELAN MAJU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 the RF a layered earth would produce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68096" y="2093976"/>
            <a:ext cx="6693408" cy="3401568"/>
          </a:xfrm>
          <a:prstGeom prst="roundRect">
            <a:avLst>
              <a:gd name="adj" fmla="val 1613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fwd_demo_BI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48840"/>
            <a:ext cx="6583680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58064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RF (black) vs Herrmann CPS hrftn96 best-fit synthetic (red) — station BI1.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hrftn96 (Herrmann CPS)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286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a velocity model (thickness, Vp, Vs, ρ) + ray parameter + Gaussian.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exact receiver function that model predicts.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modelling turns interpretation into a test: does my layered model reproduce the data?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engine inside the inversion.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  ·  LAYERED Vs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Invert the RF for a shear-velocity profile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68096" y="1785112"/>
            <a:ext cx="6876288" cy="4019296"/>
          </a:xfrm>
          <a:prstGeom prst="roundRect">
            <a:avLst>
              <a:gd name="adj" fmla="val 1365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vs_inversion_BI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39976"/>
            <a:ext cx="6766560" cy="39095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58064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BI4 — damped, smoothed, PREM-constrained least-squares (CPS rftn96 scheme; hrftn96 forward). RMS 0.11.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763256" y="1852907"/>
            <a:ext cx="3767328" cy="4432346"/>
          </a:xfrm>
          <a:prstGeom prst="roundRect">
            <a:avLst>
              <a:gd name="adj" fmla="val 1456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9" name="Image 1" descr="/Users/maswiet/Work/Students/Pak_Zuhdi/figures/rf_java/vs_profi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907771"/>
            <a:ext cx="3657600" cy="43226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18120" y="6309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Flagship-station Vs profiles (increase with depth).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SEDIMENT FROM RF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sediment thickness from the conversion delay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2130552"/>
            <a:ext cx="310896" cy="31089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209397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24328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strong positive pulse after the direct P is the sediment–basement conversion. Its delay t(Ps) is measured on the stacked RF.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97764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8992" y="4233672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554480" y="41970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→ depth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727448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Move-out:  H = t(Ps) / [√(1/Vs² − p²) − √(1/Vp² − p²)].  Robust for noisy single-station data; Vs 1.5 km/s assumed.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09360" y="1874520"/>
            <a:ext cx="5029200" cy="4069080"/>
          </a:xfrm>
          <a:prstGeom prst="roundRect">
            <a:avLst>
              <a:gd name="adj" fmla="val 2247"/>
            </a:avLst>
          </a:prstGeom>
          <a:solidFill>
            <a:srgbClr val="1023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0" y="21031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Absolute, physical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256032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density assumption — thickness comes from a measured travel time.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of 106 stations give a resolvable sediment conversion.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≈ 3.5 km; range 1–7 km — consistent with published Central-Java basins.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MERAMEX 2004 — a dense passive array over Central Java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2498598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29968"/>
            <a:ext cx="2315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798064"/>
            <a:ext cx="22791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seismic stations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04438" y="1828800"/>
            <a:ext cx="2498598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95878" y="2029968"/>
            <a:ext cx="2315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106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614166" y="2798064"/>
            <a:ext cx="22791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with RFs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85916" y="1828800"/>
            <a:ext cx="2498598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77356" y="2029968"/>
            <a:ext cx="2315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8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95644" y="2798064"/>
            <a:ext cx="22791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teleseisms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867394" y="1828800"/>
            <a:ext cx="2498598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58834" y="2029968"/>
            <a:ext cx="2315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~3.5 km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977122" y="2798064"/>
            <a:ext cx="22791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sediment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53513" y="3557016"/>
            <a:ext cx="2454493" cy="3035808"/>
          </a:xfrm>
          <a:prstGeom prst="roundRect">
            <a:avLst>
              <a:gd name="adj" fmla="val 2235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18" name="Image 0" descr="/Users/maswiet/Work/Students/Pak_Zuhdi/figures/rf_java/sediment_rf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08377" y="3611880"/>
            <a:ext cx="2344765" cy="29260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22960" y="3703320"/>
            <a:ext cx="2331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Merapi Amphibious Experiment (GFZ), May–Oct 2004.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Broadband + short-period, ~10–20 km spacing.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/ experiment data — no new acquisition.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Volcanic arc (▲) crosses the array.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 ·  SEISMOLOGY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Sediment thickness measured directly at 92 stations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2319528" y="1682496"/>
            <a:ext cx="3773424" cy="4681728"/>
          </a:xfrm>
          <a:prstGeom prst="roundRect">
            <a:avLst>
              <a:gd name="adj" fmla="val 1454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sediment_rf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4392" y="1737360"/>
            <a:ext cx="3663696" cy="4572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6384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RFs give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33172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thickness, no density model.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 pockets = depocentres; thin = basement / volcanic highs.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context: Merapi, Merbabu, Dieng, Lawu, Muria; Yogyakarta, Semarang, Surakarta.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54864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anchor gravity was missing.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HALF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Satellite gravity over Central Java — dense but ambiguous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378713" y="1773936"/>
            <a:ext cx="4100575" cy="4224528"/>
          </a:xfrm>
          <a:prstGeom prst="roundRect">
            <a:avLst>
              <a:gd name="adj" fmla="val 1338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bougu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3577" y="1828800"/>
            <a:ext cx="3990847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727953" y="1773936"/>
            <a:ext cx="4100575" cy="4224528"/>
          </a:xfrm>
          <a:prstGeom prst="roundRect">
            <a:avLst>
              <a:gd name="adj" fmla="val 1338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1" descr="/Users/maswiet/Work/Students/Pak_Zuhdi/figures/rf_java/residu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817" y="1828800"/>
            <a:ext cx="3990847" cy="41148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5989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GGM+WGM complete Bouguer anomaly (▲ volcanoes).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89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(40 km high-pass) — basin-scale signal.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INSIGHT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 in Central Java, gravity alone cannot see the sediment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68096" y="1895856"/>
            <a:ext cx="4864608" cy="4072128"/>
          </a:xfrm>
          <a:prstGeom prst="roundRect">
            <a:avLst>
              <a:gd name="adj" fmla="val 1347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rf_vs_gra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50720"/>
            <a:ext cx="4754880" cy="3962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035040" y="1874520"/>
            <a:ext cx="5303520" cy="4114800"/>
          </a:xfrm>
          <a:prstGeom prst="roundRect">
            <a:avLst>
              <a:gd name="adj" fmla="val 2222"/>
            </a:avLst>
          </a:prstGeom>
          <a:solidFill>
            <a:srgbClr val="1023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55080" y="21488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 r ≈ 0.1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355080" y="278892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sediment thickness does NOT track the Bouguer residual — same story as the Indonesia-wide inversion.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Java's gravity is dominated by the volcanic arc and basement density.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gravity inversion for sediment is under-determined without depth control...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...which the receiver functions now supply.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RF-anchored, gravity-contextualised sediment model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772706" y="1728216"/>
            <a:ext cx="4684189" cy="4681728"/>
          </a:xfrm>
          <a:prstGeom prst="roundRect">
            <a:avLst>
              <a:gd name="adj" fmla="val 1172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sediment_constra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7570" y="1783080"/>
            <a:ext cx="4574461" cy="4572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80960" y="1920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33172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functions set absolute thickness at ~90 points.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fills the continuous spatial fabric between stations.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ties the map to the seismology.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public-data reconnaissance depth-to-basement model.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219456" cy="21945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70432" y="7498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SYNTHESIS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43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have seismology constraints, gravity + seismology is far more powerful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5029200" cy="3291840"/>
          </a:xfrm>
          <a:prstGeom prst="roundRect">
            <a:avLst>
              <a:gd name="adj" fmla="val 2778"/>
            </a:avLst>
          </a:prstGeom>
          <a:solidFill>
            <a:srgbClr val="3A2320"/>
          </a:solidFill>
          <a:ln w="12700">
            <a:solidFill>
              <a:srgbClr val="B051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788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3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alone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24612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A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Non-unique: basin low cancels rift Moho high.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A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inversion: r = −0.15 vs published thickness.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A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Dominated by plate-boundary &amp; isostatic effects.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A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Outlines built from gravity aren't an independent check.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2606040"/>
            <a:ext cx="5029200" cy="3291840"/>
          </a:xfrm>
          <a:prstGeom prst="roundRect">
            <a:avLst>
              <a:gd name="adj" fmla="val 2778"/>
            </a:avLst>
          </a:prstGeom>
          <a:solidFill>
            <a:srgbClr val="12352B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788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+ seismology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324612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C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gives absolute, physical thickness — no density guess.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C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Seismology anchors &amp; calibrates the ambiguous gravity field.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C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then interpolates between stations, cheaply and densely.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Together: a calibrated basin model where neither works alone.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Java is the proof: the RF constraint is exactly what turns gravity from ambiguous into useful.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ROADMAP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the bridge across Indonesia's frontier basins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2130552"/>
            <a:ext cx="310896" cy="31089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209397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passive seismology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243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temporary/permanent broadband deployment already recorded can yield RF depth control — like MERAMEX here.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87452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65392" y="2130552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040880" y="209397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real ground truth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243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MIGAS opens 42,461 wells and 63,691 2-D seismic lines via ArcGIS REST — the true depth-to-basement, still unused.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397764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78992" y="4233672"/>
            <a:ext cx="310896" cy="310896"/>
          </a:xfrm>
          <a:prstGeom prst="ellipse">
            <a:avLst/>
          </a:prstGeom>
          <a:solidFill>
            <a:srgbClr val="C98A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554480" y="41970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Terrestrial gravity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472744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2025 Bouguer Anomaly compilation adds resolution satellite gravity cannot.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397764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65392" y="4233672"/>
            <a:ext cx="310896" cy="310896"/>
          </a:xfrm>
          <a:prstGeom prst="ellipse">
            <a:avLst/>
          </a:prstGeom>
          <a:solidFill>
            <a:srgbClr val="B051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40880" y="41970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inversion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472744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 gravity with RF/well depths as hard constraints — basin by basin, nationally.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20240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234440" y="1874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6888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data is scarce, seismology is the bridge — and gravity + seismology beats either alone.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976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functions  +  satellite gravity  +  Herrmann CPS  →  a public-data depth-to-basement model for Central Java, and a template for every frontier basin.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3949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  ·  Thank you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2026-09-03T05:36:13Z</dcterms:created>
  <dcterms:modified xsi:type="dcterms:W3CDTF">2026-09-03T05:36:13Z</dcterms:modified>
</cp:coreProperties>
</file>