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98A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UNLOCKING UNDER-EXPLORED BASINS IN INDONESIA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7452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Potential Fields to Seismological Constraints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&amp; magnetics map where basins are — receiver functions tell us how deep. Together they turn reconnaissance into a drillable model.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Magnetic reconnaissance of 9 frontier basins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 Zuhdi Research Group  ·  Satellite gravity + magnetics + MERAMEX receiver functions  ·  60-minute keynote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Indonesia's under-explored basins are the next frontier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897880" y="1843347"/>
            <a:ext cx="5760720" cy="4085705"/>
          </a:xfrm>
          <a:prstGeom prst="roundRect">
            <a:avLst>
              <a:gd name="adj" fmla="val 111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09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889067"/>
            <a:ext cx="5669280" cy="39942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1828800"/>
            <a:ext cx="4663440" cy="1417320"/>
          </a:xfrm>
          <a:prstGeom prst="roundRect">
            <a:avLst>
              <a:gd name="adj" fmla="val 516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0704" y="206654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81328" y="20116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basins, little modern data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52374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hosts ~128 sedimentary basins; a large share in the east remain frontier — sparse wells, legacy 2-D seismic, no modern depth model.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3383280"/>
            <a:ext cx="4663440" cy="1371600"/>
          </a:xfrm>
          <a:prstGeom prst="roundRect">
            <a:avLst>
              <a:gd name="adj" fmla="val 5333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" y="362102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81328" y="3566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fields cover everything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07822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satellite gravity &amp; magnetics blanket every basin uniformly — the ideal reconnaissance layer to rank and delineate targets.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4864608"/>
            <a:ext cx="4663440" cy="1234440"/>
          </a:xfrm>
          <a:prstGeom prst="roundRect">
            <a:avLst>
              <a:gd name="adj" fmla="val 592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60704" y="5102352"/>
            <a:ext cx="274320" cy="274320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481328" y="50474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555955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potential fields alone give a drillable basin model? Or do we need a seismological anchor?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60533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Sedimentary basins of Indonesia (Badan Geologi, 2020).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Peta cekungan Indonesia: banyak cekungan timur masih frontier — data sumur &amp; seismik terbatas. Gravity/magnetik satelit menutup semuanya secara merata.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hour covers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06654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0116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The toolkit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2374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gravity &amp; magnetics respond to basins; processing &amp; edge detection.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92824" y="206654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13448" y="20116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National portfolio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52374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frontier basins screened with satellite gravity + magnetic RTP.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29184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0704" y="352958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481328" y="3474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Deep dive: Tomini/Gorontalo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9867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Reprocessed satellite gravity — better gridding, sharper structure.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329184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2824" y="352958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13448" y="3474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The non-uniqueness wall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9867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potential fields alone cannot fix absolute basin depth.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75488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0704" y="4992624"/>
            <a:ext cx="274320" cy="274320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81328" y="4937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Seismology as the key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4498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functions anchor depth &amp; velocity — MERAMEX &amp; 91-station Vs.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55080" y="475488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2824" y="4992624"/>
            <a:ext cx="274320" cy="274320"/>
          </a:xfrm>
          <a:prstGeom prst="ellipse">
            <a:avLst/>
          </a:prstGeom>
          <a:solidFill>
            <a:srgbClr val="1023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13448" y="493776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The integrated future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4498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magnetics + seismology, and a roadmap for frontier basins.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60 menit: konsep → portfolio 9 cekungan → reprosesing Tomini → keterbatasan potensi-lapangan → receiver function sebagai kunci → integrasi.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 ·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Basins are density &amp; susceptibility contrasts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057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— density contrast (Δρ)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69464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Low-density sedimentary fill (2.2–2.5 g/cm³) over denser basement (2.67–2.9) makes a NEGATIVE gravity anomaly. Depocentres = residual gravity lows.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704" y="421538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81328" y="41605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Magnetics — susceptibility contrast (Δκ)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672584"/>
            <a:ext cx="4663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Sediments are near-non-magnetic; basement &amp; intrusions carry the signal. Magnetics image BASEMENT relief and volcanic/fault trends beneath the fill.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1874520"/>
            <a:ext cx="5074920" cy="4069080"/>
          </a:xfrm>
          <a:prstGeom prst="roundRect">
            <a:avLst>
              <a:gd name="adj" fmla="val 179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01384" y="211226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22008" y="20574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use both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2569464"/>
            <a:ext cx="452628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senses total mass deficit; magnetics senses basement/structure. Read together they cut the ambiguity of either field alone (Gibson &amp; Millegan, 1998) — the first step toward a basin model.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note: both are POTENTIAL fields — smooth, non-unique, and depth-ambiguous. Hold that thought for Part 4.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peka ke kontras densitas (isi cekungan lebih ringan → anomali rendah); magnetik peka ke kontras suseptibilitas (relief batuan dasar). Dipakai bersama mengurangi ambiguitas.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 ·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Gravity processing chain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Free-air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03580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Satellite/altimetry gravity (Sandwell, GGMPlus)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218688" y="269748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56432" y="201168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47872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2560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Bouguer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303580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terrain/bathymetry mass (tesseroid)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69748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89904" y="201168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81344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181344" y="2560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Isostatic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303580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deep root compensation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485632" y="269748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723376" y="2011680"/>
            <a:ext cx="2468880" cy="2011680"/>
          </a:xfrm>
          <a:prstGeom prst="roundRect">
            <a:avLst>
              <a:gd name="adj" fmla="val 363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814816" y="2148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814816" y="25603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Residual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887968" y="3035808"/>
            <a:ext cx="213969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Regional–residual split → basin-scale field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4434840"/>
            <a:ext cx="10515600" cy="1600200"/>
          </a:xfrm>
          <a:prstGeom prst="roundRect">
            <a:avLst>
              <a:gd name="adj" fmla="val 457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60704" y="467258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481328" y="46177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residual is the interpretation field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129784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Regional–residual separation (upward continuation / Gaussian high-pass) isolates shallow basin structure from deep lithospheric trends. Residual gravity LOWS mark sediment depocentres; HIGHS mark basement highs and horsts.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Rantai gravity: free-air → Bouguer (koreksi terrain) → isostatik → residual. Anomali residual RENDAH = depocentre cekungan; TINGGI = tinggian batuan dasar.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 ·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Magnetics: why Reduce-to-Pole (RTP)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760720" y="2414872"/>
            <a:ext cx="5852160" cy="2851216"/>
          </a:xfrm>
          <a:prstGeom prst="roundRect">
            <a:avLst>
              <a:gd name="adj" fmla="val 160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26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460592"/>
            <a:ext cx="5760720" cy="275977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1874520"/>
            <a:ext cx="466344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81328" y="20574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569464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low magnetic latitudes the anomaly is shifted and skewed away from its source — a body's peak does not sit over the body.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3886200"/>
            <a:ext cx="4663440" cy="2057400"/>
          </a:xfrm>
          <a:prstGeom prst="roundRect">
            <a:avLst>
              <a:gd name="adj" fmla="val 355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" y="412394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81328" y="4069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RTP / RTE fix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581144"/>
            <a:ext cx="411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Reduce-to-Pole (or Equator) re-centres anomalies over their sources, so magnetic highs/lows line up with basement structure and can be co-interpreted with gravity.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06440" y="5989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intensity, reduced to pole (EMAG2 V3 + WDMAM).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lintang magnetik rendah, anomali magnetik bergeser dari sumbernya. Reduce-to-Pole mengembalikan anomali tepat di atas sumber agar bisa dipadu dengan gravity.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 ·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detection &amp; basin delineation criteria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080760" y="1851660"/>
            <a:ext cx="5577840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08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897380"/>
            <a:ext cx="5486400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1874520"/>
            <a:ext cx="4892040" cy="1874520"/>
          </a:xfrm>
          <a:prstGeom prst="roundRect">
            <a:avLst>
              <a:gd name="adj" fmla="val 3902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481328" y="20574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 filters find edges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097280" y="2569464"/>
            <a:ext cx="4343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THD, tilt (TDR), analytic signal and theta maps sharpen gradients — they trace fault scarps, basin margins and intrusive contacts the raw field blurs.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3840480"/>
            <a:ext cx="4892040" cy="2103120"/>
          </a:xfrm>
          <a:prstGeom prst="roundRect">
            <a:avLst>
              <a:gd name="adj" fmla="val 3478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" y="407822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81328" y="40233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basin = converging evidence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1097280" y="4535424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a basin where a residual gravity LOW, a smooth low-gradient magnetic interior, and edge-detected bounding faults all coincide — not from one map alone.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6053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Basin delineation criteria (source deck).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turunan (THD/TDR/analytic signal/theta) menandai tepi &amp; sesar. Cekungan didiagnosis saat gravity rendah + interior magnetik tenang + sesar pembatas saling bertemu.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PORTFOLIO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reconnaissance workflow, nine frontier basins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7568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84378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basins screened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04438" y="187452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5878" y="207568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900" dirty="0"/>
          </a:p>
        </p:txBody>
      </p:sp>
      <p:sp>
        <p:nvSpPr>
          <p:cNvPr id="10" name="Text 8"/>
          <p:cNvSpPr txBox="1"/>
          <p:nvPr/>
        </p:nvSpPr>
        <p:spPr>
          <a:xfrm>
            <a:off x="3614166" y="284378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fields per basin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5916" y="187452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77356" y="207568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6295644" y="284378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slices (deep/crust/shallow)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867394" y="1874520"/>
            <a:ext cx="2498598" cy="1554480"/>
          </a:xfrm>
          <a:prstGeom prst="roundRect">
            <a:avLst>
              <a:gd name="adj" fmla="val 470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58834" y="2075688"/>
            <a:ext cx="2315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C98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8977122" y="2843784"/>
            <a:ext cx="22791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satellite data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3703320"/>
            <a:ext cx="5212080" cy="2286000"/>
          </a:xfrm>
          <a:prstGeom prst="roundRect">
            <a:avLst>
              <a:gd name="adj" fmla="val 320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60704" y="39410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481328" y="3886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— GGMPlus 2013 + WGM2012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398264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Isostatic-corrected satellite gravity, band-pass filtered into deep, crustal and shallow depth slices (wavelength → depth). Deep+shallow composite shown per basin.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703320"/>
            <a:ext cx="5166360" cy="2286000"/>
          </a:xfrm>
          <a:prstGeom prst="roundRect">
            <a:avLst>
              <a:gd name="adj" fmla="val 320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9944" y="394106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30568" y="38862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Magnetics — EMAG2 V3 + WDMAM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398264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intensity, merged and reduced-to-pole. Same footprint as gravity so the two fields are co-registered and jointly interpreted for each basin.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 alur untuk 9 cekungan: gravity isostatik (GGMPlus+WGM2012) di-slice per kedalaman + magnetik RTP (EMAG2V3+WDMAM). Semua data publik satelit.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1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Bengkulu  —  Fore-arc basin, offshore SW Sumatra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193263" y="1737360"/>
            <a:ext cx="4517194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3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983" y="1783080"/>
            <a:ext cx="4425754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52057" y="1737360"/>
            <a:ext cx="4498087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3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777" y="1783080"/>
            <a:ext cx="4406647" cy="3977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Elongated fore-arc gravity low parallel to the trench; magnetic quiet zone over the fill, magnetic highs on the outer-arc basement ridge.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2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Bogor  —  Back-arc trough, West Java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978361"/>
            <a:ext cx="5349240" cy="3587078"/>
          </a:xfrm>
          <a:prstGeom prst="roundRect">
            <a:avLst>
              <a:gd name="adj" fmla="val 1275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4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24081"/>
            <a:ext cx="5257800" cy="349563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045704"/>
            <a:ext cx="5166360" cy="3452392"/>
          </a:xfrm>
          <a:prstGeom prst="roundRect">
            <a:avLst>
              <a:gd name="adj" fmla="val 13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4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91424"/>
            <a:ext cx="5074920" cy="336095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Deep E–W gravity low tracks the Bogor Trough; volcanic-arc magnetic highs bound it to the south.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3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Lombok Selatan  —  Fore-arc, southern Nusa Tenggara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963246"/>
            <a:ext cx="5349240" cy="3617307"/>
          </a:xfrm>
          <a:prstGeom prst="roundRect">
            <a:avLst>
              <a:gd name="adj" fmla="val 126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5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08966"/>
            <a:ext cx="5257800" cy="352586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045704"/>
            <a:ext cx="5166360" cy="3452392"/>
          </a:xfrm>
          <a:prstGeom prst="roundRect">
            <a:avLst>
              <a:gd name="adj" fmla="val 13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091424"/>
            <a:ext cx="5074920" cy="336095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Fore-arc low south of the volcanic arc; strong arc magnetic signature to the north frames the depocentre.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4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Tomori Selatan  —  East arm, Sulawesi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170175" y="1737360"/>
            <a:ext cx="4563371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6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895" y="1783080"/>
            <a:ext cx="4471931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24078" y="1737360"/>
            <a:ext cx="4554044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6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798" y="1783080"/>
            <a:ext cx="4462604" cy="3977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Gravity low over the Molucca/East-Sulawesi fill; complex magnetic fabric from ophiolite/basement blocks nearby.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5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Kendari  —  Southeast Sulawesi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279758" y="1737360"/>
            <a:ext cx="4344204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7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478" y="1783080"/>
            <a:ext cx="4252764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8998" y="1737360"/>
            <a:ext cx="4344204" cy="4069080"/>
          </a:xfrm>
          <a:prstGeom prst="roundRect">
            <a:avLst>
              <a:gd name="adj" fmla="val 112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7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4718" y="1783080"/>
            <a:ext cx="4252764" cy="3977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Intramontane gravity low between metamorphic highs; magnetic contrasts follow the SE-Sulawesi terrane boundaries.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6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Gorontalo  —  Tomini Bay, North Sulawesi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2256683"/>
            <a:ext cx="5349240" cy="3030433"/>
          </a:xfrm>
          <a:prstGeom prst="roundRect">
            <a:avLst>
              <a:gd name="adj" fmla="val 1509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8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02403"/>
            <a:ext cx="5257800" cy="293899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403973"/>
            <a:ext cx="5166360" cy="2735855"/>
          </a:xfrm>
          <a:prstGeom prst="roundRect">
            <a:avLst>
              <a:gd name="adj" fmla="val 167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8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449693"/>
            <a:ext cx="5074920" cy="264441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Broad deep-marine gravity low in Tomini Bay — a prime depocentre; magnetic highs on the North-arm volcanic basement.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7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Poso  —  Central Sulawesi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841664" y="1737360"/>
            <a:ext cx="3220392" cy="4069080"/>
          </a:xfrm>
          <a:prstGeom prst="roundRect">
            <a:avLst>
              <a:gd name="adj" fmla="val 1420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39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7384" y="1783080"/>
            <a:ext cx="3128952" cy="3977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90904" y="1737360"/>
            <a:ext cx="3220392" cy="4069080"/>
          </a:xfrm>
          <a:prstGeom prst="roundRect">
            <a:avLst>
              <a:gd name="adj" fmla="val 1420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39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624" y="1783080"/>
            <a:ext cx="3128952" cy="39776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Gravity low over the Poso/Central-Sulawesi depression; sharp magnetic edges mark bounding fault systems.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8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Melawi  —  West Kalimantan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2669362"/>
            <a:ext cx="5349240" cy="2205076"/>
          </a:xfrm>
          <a:prstGeom prst="roundRect">
            <a:avLst>
              <a:gd name="adj" fmla="val 2073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40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15082"/>
            <a:ext cx="5257800" cy="21136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499861"/>
            <a:ext cx="5166360" cy="2544078"/>
          </a:xfrm>
          <a:prstGeom prst="roundRect">
            <a:avLst>
              <a:gd name="adj" fmla="val 179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40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45581"/>
            <a:ext cx="5074920" cy="24526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Large intracratonic gravity low (Melawi–Ketungau); smooth magnetic interior typical of thick continental fill.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BASIN 9 / 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Nang Apino  —  Frontier area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2578665"/>
            <a:ext cx="5349240" cy="2386470"/>
          </a:xfrm>
          <a:prstGeom prst="roundRect">
            <a:avLst>
              <a:gd name="adj" fmla="val 1916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s41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24385"/>
            <a:ext cx="5257800" cy="22950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2624922"/>
            <a:ext cx="5166360" cy="2293955"/>
          </a:xfrm>
          <a:prstGeom prst="roundRect">
            <a:avLst>
              <a:gd name="adj" fmla="val 1993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s41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670642"/>
            <a:ext cx="5074920" cy="220251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Isostatic gravity (deep + shallow)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magnetic intensity — RTP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cepat: Reconnaissance gravity low with edge-bounded margins; magnetics used to separate sedimentary fill from magnetic basement.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· SYNTHESIS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basins ranked — but by relative signal only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Basin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9476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9476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low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03920" y="19476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read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331720"/>
            <a:ext cx="10515600" cy="566928"/>
          </a:xfrm>
          <a:prstGeom prst="rect">
            <a:avLst/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Gorontalo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24505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Tomini Bay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4505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/ broad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interior, arc highs 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2898648"/>
            <a:ext cx="10515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017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Bogor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W-Java back-arc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017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/ linear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017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highs bound 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2960" y="3465576"/>
            <a:ext cx="10515600" cy="566928"/>
          </a:xfrm>
          <a:prstGeom prst="rect">
            <a:avLst/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58444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Melawi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383280" y="35844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W-Kalimantan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58444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/ broad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503920" y="3584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interior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22960" y="4032504"/>
            <a:ext cx="10515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415137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Bengkulu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415137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Sumatra fore-arc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1513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503920" y="41513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Outer-arc ridge highs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22960" y="4599432"/>
            <a:ext cx="10515600" cy="566928"/>
          </a:xfrm>
          <a:prstGeom prst="rect">
            <a:avLst/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" y="47183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Poso / Kendari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383280" y="47183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C/SE Sulawesi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47183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503920" y="4718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Fault-edge fabric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822960" y="5166360"/>
            <a:ext cx="105156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2852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 S / Tomori / Nang Apino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5285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00800" y="52852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503920" y="5285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basement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uses RELATIVE anomaly strength and pattern — the maps do not yet give absolute depth, thickness, or volume.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berdasarkan kekuatan &amp; pola anomali relatif. Peta ini belum memberi kedalaman/ketebalan/volume absolut — itu keterbatasan mendasarnya.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Tomini / Gorontalo — reprocessing the gravity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057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basin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69464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deep-marine frontier depocentre in East Indonesia (Tomini Bay). Excellent test bed: strong gravity signal, active tectonics, no modern depth model.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704" y="412394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81328" y="4069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redid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581144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Re-fetched free public satellite gravity and re-gridded with minimum-curvature (surface, tension) + light Gaussian — replacing stepped, blocky maps with smooth, continuous fields and clean contours.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809162"/>
            <a:ext cx="5577840" cy="4154076"/>
          </a:xfrm>
          <a:prstGeom prst="roundRect">
            <a:avLst>
              <a:gd name="adj" fmla="val 1101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4" name="Image 0" descr="/Users/maswiet/Work/Students/Pak_Zuhdi/pitch_basin/media/tomini_bouguer_sm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854882"/>
            <a:ext cx="5486400" cy="406263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1264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Bouguer anomaly, reprocessed (this study).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Tomini/Gorontalo = depocentre frontier laut-dalam Indonesia Timur. Gravity satelit gratis diproses ulang: gridding minimum-curvature + smoothing → peta halus &amp; kontur bersih.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GRIDDING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gridding, sharper structure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39318" y="1828800"/>
            <a:ext cx="5025084" cy="3840480"/>
          </a:xfrm>
          <a:prstGeom prst="roundRect">
            <a:avLst>
              <a:gd name="adj" fmla="val 1190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tomini_residual_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038" y="1874520"/>
            <a:ext cx="4933644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33452" y="1828800"/>
            <a:ext cx="5135295" cy="3840480"/>
          </a:xfrm>
          <a:prstGeom prst="roundRect">
            <a:avLst>
              <a:gd name="adj" fmla="val 1190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tomini_residual_smoo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172" y="1874520"/>
            <a:ext cx="5043855" cy="3749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6692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stepped / blocky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6692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minimum-curvature + smooth contours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Kiri: gridding lama (bertingkat). Kanan: minimum-curvature (surface, tension) + Gaussian + kontur halus. Depocentre &amp; tepi cekungan jauh lebih terbaca.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DEPOCENTRES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Residual Bouguer — where the sediment is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589570" y="1737360"/>
            <a:ext cx="5873420" cy="4389120"/>
          </a:xfrm>
          <a:prstGeom prst="roundRect">
            <a:avLst>
              <a:gd name="adj" fmla="val 1042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tomini_residual_sm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5290" y="1783080"/>
            <a:ext cx="5781980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12480" y="1874520"/>
            <a:ext cx="292608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5022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070848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basin low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569464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residual lows in central Tomini Bay mark the main depocentres — thickest low-density fill.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412480" y="3886200"/>
            <a:ext cx="2926080" cy="1874520"/>
          </a:xfrm>
          <a:prstGeom prst="roundRect">
            <a:avLst>
              <a:gd name="adj" fmla="val 3902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650224" y="412394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070848" y="4069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basement high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4581144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Highs flank the North &amp; East arms — structural highs / horsts separating sub-basins.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Bouguer: biru = anomali rendah (isi cekungan tebal / depocentre); merah = tinggian batuan dasar. Pola memisahkan sub-cekungan di Teluk Tomini.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· STRUCTURE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detection — the structural framework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803830"/>
            <a:ext cx="5349240" cy="3981859"/>
          </a:xfrm>
          <a:prstGeom prst="roundRect">
            <a:avLst>
              <a:gd name="adj" fmla="val 1148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tomini_thd_sm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49550"/>
            <a:ext cx="5257800" cy="3890419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17920" y="1862975"/>
            <a:ext cx="5166360" cy="3863570"/>
          </a:xfrm>
          <a:prstGeom prst="roundRect">
            <a:avLst>
              <a:gd name="adj" fmla="val 1183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tomini_tilt_smoo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908695"/>
            <a:ext cx="5074920" cy="377213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horizontal derivative (edges)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6263640" y="57790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Tilt derivative — 0° contour = source outline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THD menandai tepi/sesar; tilt derivative (kontur 0°) menggambar garis batas sumber. Bersama-sama memberi kerangka struktur &amp; batas depocentre Tomini.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THE LIMIT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91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 fields are non-unique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78892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gravity or magnetic low can be a thin low-density layer — or a thick, slightly-less-low-density one. Infinitely many density×thickness models fit the same map.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3392424" cy="1737360"/>
          </a:xfrm>
          <a:prstGeom prst="roundRect">
            <a:avLst>
              <a:gd name="adj" fmla="val 5263"/>
            </a:avLst>
          </a:prstGeom>
          <a:solidFill>
            <a:srgbClr val="16324F"/>
          </a:solidFill>
          <a:ln w="19050">
            <a:solidFill>
              <a:srgbClr val="B051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4297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5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ambiguity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8646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fixes mass deficit, not how it splits into density and depth.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4114800"/>
            <a:ext cx="3392424" cy="1737360"/>
          </a:xfrm>
          <a:prstGeom prst="roundRect">
            <a:avLst>
              <a:gd name="adj" fmla="val 5263"/>
            </a:avLst>
          </a:prstGeom>
          <a:solidFill>
            <a:srgbClr val="16324F"/>
          </a:solidFill>
          <a:ln w="19050">
            <a:solidFill>
              <a:srgbClr val="C98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4297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depth = a range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8646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Wavelength→depth gives broad intervals, not a basement pick.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863840" y="4114800"/>
            <a:ext cx="3392424" cy="1737360"/>
          </a:xfrm>
          <a:prstGeom prst="roundRect">
            <a:avLst>
              <a:gd name="adj" fmla="val 5263"/>
            </a:avLst>
          </a:prstGeom>
          <a:solidFill>
            <a:srgbClr val="16324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42976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Magnetics = relief, not scale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48646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RTP shows basement shape but not absolute burial depth.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Gravity/magnetik itu ambigu: satu anomali cocok untuk tak-hingga kombinasi densitas×ketebalan. Butuh jangkar kedalaman independen.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KEY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gives an independent depth anchor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0574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Teleseismic P waves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69464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earthquakes send P energy up through the crust beneath a single station — no source, no survey needed.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0704" y="412394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81328" y="40690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Conversions carry depth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581144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each velocity boundary some P converts to S (Ps). The DELAY of Ps after P is a direct clock on interface depth — the anchor gravity lacks.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063740" y="1828800"/>
            <a:ext cx="3611880" cy="4114800"/>
          </a:xfrm>
          <a:prstGeom prst="roundRect">
            <a:avLst>
              <a:gd name="adj" fmla="val 1266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14" name="Image 0" descr="/Users/maswiet/Work/Students/Pak_Zuhdi/pitch_basin/media/cj_rf_demo_BI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9460" y="1874520"/>
            <a:ext cx="3520440" cy="40233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12648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function, station BI1 (MERAMEX, Central Java).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Gempa jauh → gelombang P menembus kerak di bawah satu stasiun. Sebagian P berubah jadi S (Ps) di tiap batas; jeda Ps = kedalaman batas. Inilah jangkar yang tak dimiliki gravity.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METHOD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functions → sediment thickness &amp; Vs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866392"/>
            <a:ext cx="6766560" cy="3948176"/>
          </a:xfrm>
          <a:prstGeom prst="roundRect">
            <a:avLst>
              <a:gd name="adj" fmla="val 1158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cj_vs_inversion_BI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12112"/>
            <a:ext cx="6675120" cy="38567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18745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1014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30768" y="2057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move-out → depth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56946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Ps delay + ray parameter into an ABSOLUTE sediment / basement depth per station.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772400" y="3886200"/>
            <a:ext cx="3566160" cy="2057400"/>
          </a:xfrm>
          <a:prstGeom prst="roundRect">
            <a:avLst>
              <a:gd name="adj" fmla="val 3556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010144" y="412394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430768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Vs inversion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4581144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Herrmann CPS rftn96 inverts the waveform for a layered Vs(z) — physically constrained, PREM-like increase with depth.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Move-out Ps → kedalaman absolut sedimen/basement; inversi penuh (CPS rftn96) → profil Vs(z) berlapis yang fisis. Kalibrasi densitas untuk gravity.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EVIDENCE 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Java — RF maps real sediment thickness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2438583" y="1737360"/>
            <a:ext cx="3535314" cy="4389120"/>
          </a:xfrm>
          <a:prstGeom prst="roundRect">
            <a:avLst>
              <a:gd name="adj" fmla="val 1293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cj_sediment_rf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4303" y="1783080"/>
            <a:ext cx="3443874" cy="4297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63840" y="1874520"/>
            <a:ext cx="3474720" cy="1965960"/>
          </a:xfrm>
          <a:prstGeom prst="roundRect">
            <a:avLst>
              <a:gd name="adj" fmla="val 3721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0158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22208" y="2057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MERAMEX 2004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2569464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temporary broadband stations across Central Java — teleseismic RF at each yields sediment thickness.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0" y="3931920"/>
            <a:ext cx="3474720" cy="18288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01584" y="416966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22208" y="4114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depth grid, not a guess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62686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an absolute, station-based sediment estimate — the calibration gravity needs.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Java (MERAMEX 2004): receiver function tiap stasiun → ketebalan sedimen absolut. Titik-titik ini menjadi kalibrasi untuk inversi gravity.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EVIDENCE B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Western Indonesia — 91-station Vs models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195197" y="1737360"/>
            <a:ext cx="5107685" cy="4206240"/>
          </a:xfrm>
          <a:prstGeom prst="roundRect">
            <a:avLst>
              <a:gd name="adj" fmla="val 1087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wi_map_moho_dep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917" y="1783080"/>
            <a:ext cx="5016245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2671877"/>
            <a:ext cx="4572000" cy="2062886"/>
          </a:xfrm>
          <a:prstGeom prst="roundRect">
            <a:avLst>
              <a:gd name="adj" fmla="val 2216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8" name="Image 1" descr="/Users/maswiet/Work/Students/Pak_Zuhdi/pitch_basin/media/wi_vs_profiles_by_reg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717597"/>
            <a:ext cx="4480560" cy="197144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Moho depth (left) and regional Vs(z) profiles (right) — Sumatra, Java-Bali, Kalimantan.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stasiun broadband Indonesia Barat: model Vs 1-D → kedalaman Moho &amp; profil kecepatan per wilayah. Kerangka kecepatan regional untuk membatasi densitas &amp; kedalaman.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VALIDATION (CENTRAL JAVA)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Test: does gravity alone see the sediment?</a:t>
            </a:r>
            <a:endParaRPr lang="en-US" sz="2700" dirty="0"/>
          </a:p>
        </p:txBody>
      </p:sp>
      <p:pic>
        <p:nvPicPr>
          <p:cNvPr id="5" name="Image 0" descr="/Users/maswiet/Work/Students/Pak_Zuhdi/pitch_basin/media/cj_gravity_vs_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9083" y="1828800"/>
            <a:ext cx="10503354" cy="3794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669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MERAMEX stations · residual Bouguer sampled at each RF site · Pearson r = +0.08 (p = 0.44).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Jawa Tengah, gravity satelit TIDAK berkorelasi dengan ketebalan sedimen RF (r≈0.1, tidak signifikan) — sinyal sedimen (~20 mGal) tertimbun variasi Moho/volkanik (~58 mGal). Bukti kuantitatif non-uniqueness.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CONSTRAINT (CENTRAL JAVA)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Seismology unlocks the gravity interpretation</a:t>
            </a:r>
            <a:endParaRPr lang="en-US" sz="2700" dirty="0"/>
          </a:p>
        </p:txBody>
      </p:sp>
      <p:pic>
        <p:nvPicPr>
          <p:cNvPr id="5" name="Image 0" descr="/Users/maswiet/Work/Students/Pak_Zuhdi/pitch_basin/media/cj_seismology_constra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7901" y="1828800"/>
            <a:ext cx="9825718" cy="3794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56692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supplies absolute depth &amp; Vs → fix density×depth → the coherent basin model gravity alone could not yield.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Justru karena gravity ambigu, receiver function menjadi kunci: kedalaman &amp; Vs absolut per stasiun mengunci skala densitas → model cekungan koheren. Di Central Java kita punya data RF &amp; model Vs — inilah keunggulannya.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THE BRIDGE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RF-constrained gravity — the anchor pays off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964828" y="1737360"/>
            <a:ext cx="4299944" cy="4297680"/>
          </a:xfrm>
          <a:prstGeom prst="roundRect">
            <a:avLst>
              <a:gd name="adj" fmla="val 1064"/>
            </a:avLst>
          </a:prstGeom>
          <a:solidFill>
            <a:srgbClr val="EEF3F6"/>
          </a:solidFill>
          <a:ln w="12700">
            <a:solidFill>
              <a:srgbClr val="D3DEE5"/>
            </a:solidFill>
            <a:prstDash val="solid"/>
          </a:ln>
          <a:effectLst>
            <a:outerShdw sx="100000" sy="100000" kx="0" ky="0" algn="bl" rotWithShape="0" blurRad="76200" dist="25400" dir="5400000">
              <a:srgbClr val="9AA9B2">
                <a:alpha val="35000"/>
              </a:srgbClr>
            </a:outerShdw>
          </a:effectLst>
        </p:spPr>
      </p:sp>
      <p:pic>
        <p:nvPicPr>
          <p:cNvPr id="6" name="Image 0" descr="/Users/maswiet/Work/Students/Pak_Zuhdi/pitch_basin/media/cj_sediment_constra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0548" y="1783080"/>
            <a:ext cx="4208504" cy="42062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80960" y="1874520"/>
            <a:ext cx="3657600" cy="1920240"/>
          </a:xfrm>
          <a:prstGeom prst="roundRect">
            <a:avLst>
              <a:gd name="adj" fmla="val 3810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918704" y="211226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339328" y="20574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alone drifts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2569464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Unconstrained gravity inversion trades depth against density — weak correlation with true structure.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80960" y="3886200"/>
            <a:ext cx="3657600" cy="1874520"/>
          </a:xfrm>
          <a:prstGeom prst="roundRect">
            <a:avLst>
              <a:gd name="adj" fmla="val 3902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918704" y="412394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39328" y="4069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locks the scale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7955280" y="458114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 RF depths as constraints fixes the density×depth trade — gravity now resolves basin geometry.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sendirian ambigu (kedalaman vs densitas). Dengan kedalaman RF sebagai constraint, skala terkunci → gravity menghasilkan geometri cekungan yang benar.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SYNTHESIS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Gravity + magnetics + seismology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246888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16324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RECONNAISSANCE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Gravity + magnetics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basins are: extent, depocentres, bounding faults, basement relief — over every basin, cheaply.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46888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16324F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Receiver functions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deep they are: absolute sediment thickness &amp; Vs at each station — the missing scale.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863840" y="2468880"/>
            <a:ext cx="3392424" cy="3108960"/>
          </a:xfrm>
          <a:prstGeom prst="roundRect">
            <a:avLst>
              <a:gd name="adj" fmla="val 3529"/>
            </a:avLst>
          </a:prstGeom>
          <a:solidFill>
            <a:srgbClr val="16324F"/>
          </a:solidFill>
          <a:ln w="19050">
            <a:solidFill>
              <a:srgbClr val="C98A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2697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3063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Joint model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397764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DRILLABLE basin geometry: potential-field coverage locked to seismological depth. Non-uniqueness resolved.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add seismological constraints, gravity + magnetics become far more powerful.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64592" cy="16459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5029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ROADMAP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04672" y="78638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the recipe to frontier basins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704" y="2112264"/>
            <a:ext cx="274320" cy="2743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81328" y="205740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Screen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694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basins by satellite gravity + magnetic RTP (done — 9 basins).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87452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92824" y="211226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013448" y="205740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Reprocess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256946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Minimum-curvature gravity + edge detection on the leads (Tomini shown).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333756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60704" y="3575304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481328" y="352044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Anchor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03250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Occupy existing IA / GE broadband near the basin; compute receiver functions.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333756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2824" y="3575304"/>
            <a:ext cx="274320" cy="274320"/>
          </a:xfrm>
          <a:prstGeom prst="ellipse">
            <a:avLst/>
          </a:prstGeom>
          <a:solidFill>
            <a:srgbClr val="C98A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013448" y="352044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Joint invert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403250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+ magnetics constrained by RF depth &amp; Vs → basin geometry.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480060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60704" y="5038344"/>
            <a:ext cx="274320" cy="274320"/>
          </a:xfrm>
          <a:prstGeom prst="ellipse">
            <a:avLst/>
          </a:prstGeom>
          <a:solidFill>
            <a:srgbClr val="B051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481328" y="49834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Target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49554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depocentre maps &amp; prospect leads for the frontier acreage.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55080" y="4434840"/>
            <a:ext cx="4983480" cy="1280160"/>
          </a:xfrm>
          <a:prstGeom prst="roundRect">
            <a:avLst>
              <a:gd name="adj" fmla="val 5714"/>
            </a:avLst>
          </a:prstGeom>
          <a:solidFill>
            <a:srgbClr val="EEF3F6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92824" y="4672584"/>
            <a:ext cx="274320" cy="274320"/>
          </a:xfrm>
          <a:prstGeom prst="ellipse">
            <a:avLst/>
          </a:prstGeom>
          <a:solidFill>
            <a:srgbClr val="1023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013448" y="46177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already on the table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512978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MIGAS legacy wells &amp; 2-D seismic + permanent broadband networks — the anchor stations largely exist.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22960" y="6272784"/>
            <a:ext cx="10543032" cy="457200"/>
          </a:xfrm>
          <a:prstGeom prst="roundRect">
            <a:avLst>
              <a:gd name="adj" fmla="val 12000"/>
            </a:avLst>
          </a:prstGeom>
          <a:solidFill>
            <a:srgbClr val="F5F8FA"/>
          </a:solidFill>
          <a:ln w="12700">
            <a:solidFill>
              <a:srgbClr val="DCE6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5840" y="6309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 </a:t>
            </a:r>
            <a:pPr indent="0" marL="0">
              <a:buNone/>
            </a:pPr>
            <a:r>
              <a:rPr lang="en-US" sz="1100" i="1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Resep: screening satelit → reprosesing → jangkar RF di stasiun broadband yang sudah ada → inversi gabungan → peta depocentre &amp; lead. Banyak data sudah tersedia.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338560" y="6455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98A1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data scarcity to a drillable basin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7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gravity &amp; magnetics screen and delineate every Indonesian frontier basin. Receiver functions supply the absolute depth that potential fields cannot. Together they are far more powerful than either alone.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8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/ Q&amp;A  ·  30 minutes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 Zuhdi Research Group  ·  Gravity + Magnetics + Receiver Functions  ·  Unlocking Under-Explored Basins in Indonesia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Unlocking Under-Explored Basins in Indonesia</dc:title>
  <dc:subject>PptxGenJS Presentation</dc:subject>
  <dc:creator>Pak Zuhdi research group</dc:creator>
  <cp:lastModifiedBy>Pak Zuhdi research group</cp:lastModifiedBy>
  <cp:revision>1</cp:revision>
  <dcterms:created xsi:type="dcterms:W3CDTF">2026-09-20T08:22:50Z</dcterms:created>
  <dcterms:modified xsi:type="dcterms:W3CDTF">2026-09-20T08:22:50Z</dcterms:modified>
</cp:coreProperties>
</file>